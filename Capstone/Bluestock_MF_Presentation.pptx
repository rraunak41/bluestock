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F1E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0E9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₹81L Cr AUM   ·   26.12 Cr FOLIOS   ·   ₹31,002 Cr SIP INFLOW (DEC 2025)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4A01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48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566928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7772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</a:t>
            </a:r>
            <a:endParaRPr lang="en-US" sz="4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Platform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66928" y="397764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Engineering, ETL Pipeline &amp; Interactive Dashboard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66928" y="44805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·  Mutual Fund / Fintech Domain  ·  August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321040" y="10058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321040" y="157276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fund schemes tracked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321040" y="22402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46K+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321040" y="280720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NAV records, 2022–2026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21040" y="34747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32.7K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321040" y="40416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transactions analysed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321040" y="47091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321040" y="52760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analytics charts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mutual fund industry manages ₹81L Cr across 1,908 schemes — but data is fragmented and retail investors can't easily compare risk-adjusted performance.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148840"/>
            <a:ext cx="2542032" cy="2606040"/>
          </a:xfrm>
          <a:prstGeom prst="roundRect">
            <a:avLst>
              <a:gd name="adj" fmla="val 2878"/>
            </a:avLst>
          </a:prstGeom>
          <a:solidFill>
            <a:srgbClr val="F3F6FA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331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27889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Fragmentation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97280" y="342900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NAV, AUM, SIP &amp; holdings data live in different AMFI formats — no unified database.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11880" y="2148840"/>
            <a:ext cx="2542032" cy="2606040"/>
          </a:xfrm>
          <a:prstGeom prst="roundRect">
            <a:avLst>
              <a:gd name="adj" fmla="val 2878"/>
            </a:avLst>
          </a:prstGeom>
          <a:solidFill>
            <a:srgbClr val="F3F6FA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2331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94760" y="27889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Comparison Gap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794760" y="342900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can't compare funds on Sharpe, Alpha, Beta without heavy manual work.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09360" y="2148840"/>
            <a:ext cx="2542032" cy="2606040"/>
          </a:xfrm>
          <a:prstGeom prst="roundRect">
            <a:avLst>
              <a:gd name="adj" fmla="val 2878"/>
            </a:avLst>
          </a:prstGeom>
          <a:solidFill>
            <a:srgbClr val="F3F6FA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331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92240" y="27889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Benchmark Tracking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92240" y="342900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investors don't know if their fund beats its benchmark index.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06840" y="2148840"/>
            <a:ext cx="2542032" cy="2606040"/>
          </a:xfrm>
          <a:prstGeom prst="roundRect">
            <a:avLst>
              <a:gd name="adj" fmla="val 2878"/>
            </a:avLst>
          </a:prstGeom>
          <a:solidFill>
            <a:srgbClr val="F3F6FA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9720" y="2331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189720" y="27889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Behaviour Blind Spot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189720" y="342900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AMCs lack visibility into demographic &amp; geographic SIP patterns.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14400" y="5074920"/>
            <a:ext cx="10360152" cy="1234440"/>
          </a:xfrm>
          <a:prstGeom prst="roundRect">
            <a:avLst>
              <a:gd name="adj" fmla="val 5926"/>
            </a:avLst>
          </a:prstGeom>
          <a:solidFill>
            <a:srgbClr val="0A2540"/>
          </a:solidFill>
          <a:ln/>
        </p:spPr>
      </p:sp>
      <p:sp>
        <p:nvSpPr>
          <p:cNvPr id="24" name="Text 22"/>
          <p:cNvSpPr/>
          <p:nvPr/>
        </p:nvSpPr>
        <p:spPr>
          <a:xfrm>
            <a:off x="1188720" y="52303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88720" y="548640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governed ETL pipeline + SQL database + risk-adjusted performance engine + interactive dashboard covering all 40 tracked schemes, end to end.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Datasets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7315200" cy="4754880"/>
        </p:xfrm>
        <a:graphic>
          <a:graphicData uri="http://schemas.openxmlformats.org/drawingml/2006/table">
            <a:tbl>
              <a:tblPr/>
              <a:tblGrid>
                <a:gridCol w="2468880"/>
                <a:gridCol w="1005840"/>
                <a:gridCol w="38404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 Fund Master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AMFI code, AMC, category, expense ratio, risk grade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 NAV History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NAV, Jan 2022–May 2026, anchored to real mfapi.in values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 AUM by Fund House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AUM, 2022–2025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 Monthly SIP Inflows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SIP inflow, active accounts, registrations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 Category Inflows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inflow by category, FY 2024-25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 Industry Folio Count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Folio counts by Equity / Debt / Hybrid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 Scheme Performance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Returns, Sharpe, Sortino, Alpha, Beta, Max DD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 Investor Transactions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32,778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SIP / Lumpsum / Redemption, 5,000 investors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 Portfolio Holdings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equity holdings, sector weights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Benchmark Indices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Nifty 50/100/Midcap150, BSE SmallCap, CRISIL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458200" y="1417320"/>
            <a:ext cx="2834640" cy="4754880"/>
          </a:xfrm>
          <a:prstGeom prst="roundRect">
            <a:avLst>
              <a:gd name="adj" fmla="val 2581"/>
            </a:avLst>
          </a:prstGeom>
          <a:solidFill>
            <a:srgbClr val="0A2540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0" y="1645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ANCHORS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686800" y="20574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SBI MF AUM: ₹12.50L Cr (largest AMC)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686800" y="27157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Industry AUM: ₹81L Cr, Dec 2025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0" y="337413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SIP Inflow: ₹31,002 Cr, Dec 2025 (ATH)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686800" y="403250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Active SIP Accounts: 9.35 Cr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686800" y="46908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Total MF Folios: 26.12 Cr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686800" y="5349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HDFC Top 100 NAV anchor from mfapi.in code 125497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ETL Pipeline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→ Transform → Load → Analyse → Visualise — the same pattern used by real fintech platforms (Zerodha, Groww).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" y="196596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0E9F8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965960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26080" y="1965960"/>
            <a:ext cx="8366760" cy="749808"/>
          </a:xfrm>
          <a:prstGeom prst="roundRect">
            <a:avLst>
              <a:gd name="adj" fmla="val 9756"/>
            </a:avLst>
          </a:prstGeom>
          <a:solidFill>
            <a:srgbClr val="F3F6FA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1965960"/>
            <a:ext cx="7955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pre-packaged CSVs mirroring AMFI NAVAll.txt, Historical NAV API, mfapi.in REST, Monthly Notes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14400" y="2862072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D4A017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862072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26080" y="2862072"/>
            <a:ext cx="8366760" cy="749808"/>
          </a:xfrm>
          <a:prstGeom prst="roundRect">
            <a:avLst>
              <a:gd name="adj" fmla="val 9756"/>
            </a:avLst>
          </a:prstGeom>
          <a:solidFill>
            <a:srgbClr val="F3F6FA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2862072"/>
            <a:ext cx="7955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cleaning — date parsing, holiday forward-fill, dedup, AMFI-code validation, derived returns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" y="3758184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0A254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758184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26080" y="3758184"/>
            <a:ext cx="8366760" cy="749808"/>
          </a:xfrm>
          <a:prstGeom prst="roundRect">
            <a:avLst>
              <a:gd name="adj" fmla="val 9756"/>
            </a:avLst>
          </a:prstGeom>
          <a:solidFill>
            <a:srgbClr val="F3F6FA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3758184"/>
            <a:ext cx="7955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star schema — 11 tables, indexed on amfi_code + date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4400" y="4654296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8C564B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654296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926080" y="4654296"/>
            <a:ext cx="8366760" cy="749808"/>
          </a:xfrm>
          <a:prstGeom prst="roundRect">
            <a:avLst>
              <a:gd name="adj" fmla="val 9756"/>
            </a:avLst>
          </a:prstGeom>
          <a:solidFill>
            <a:srgbClr val="F3F6FA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54680" y="4654296"/>
            <a:ext cx="7955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Sharpe, Sortino, Alpha/Beta (OLS), Max DD, VaR/CVaR, rolling Sharpe, HHI, cohorts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14400" y="5550408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D6484A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550408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926080" y="5550408"/>
            <a:ext cx="8366760" cy="749808"/>
          </a:xfrm>
          <a:prstGeom prst="roundRect">
            <a:avLst>
              <a:gd name="adj" fmla="val 9756"/>
            </a:avLst>
          </a:prstGeom>
          <a:solidFill>
            <a:srgbClr val="F3F6FA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54680" y="5550408"/>
            <a:ext cx="7955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5-page interactive HTML dashboard — live slicers, sortable tables, drill-down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 — Market &amp; Industry Trends</a:t>
            </a:r>
            <a:endParaRPr lang="en-US" sz="3000" dirty="0"/>
          </a:p>
        </p:txBody>
      </p:sp>
      <p:pic>
        <p:nvPicPr>
          <p:cNvPr id="6" name="Image 0" descr="/home/claude/bluestock_mf_capstone/reports/charts/03_sip_inflow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5212080" cy="2350008"/>
          </a:xfrm>
          <a:prstGeom prst="rect">
            <a:avLst/>
          </a:prstGeom>
        </p:spPr>
      </p:pic>
      <p:pic>
        <p:nvPicPr>
          <p:cNvPr id="7" name="Image 1" descr="/home/claude/bluestock_mf_capstone/reports/charts/02_aum_growth_by_am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17320"/>
            <a:ext cx="5212080" cy="2606040"/>
          </a:xfrm>
          <a:prstGeom prst="rect">
            <a:avLst/>
          </a:prstGeom>
        </p:spPr>
      </p:pic>
      <p:pic>
        <p:nvPicPr>
          <p:cNvPr id="8" name="Image 2" descr="/home/claude/bluestock_mf_capstone/reports/charts/07_folio_count_growt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977640"/>
            <a:ext cx="5212080" cy="2331720"/>
          </a:xfrm>
          <a:prstGeom prst="rect">
            <a:avLst/>
          </a:prstGeom>
        </p:spPr>
      </p:pic>
      <p:pic>
        <p:nvPicPr>
          <p:cNvPr id="9" name="Image 3" descr="/home/claude/bluestock_mf_capstone/reports/charts/04_category_inflow_heat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206240"/>
            <a:ext cx="5212080" cy="237744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 — Risk &amp; Investor Behaviour</a:t>
            </a:r>
            <a:endParaRPr lang="en-US" sz="3000" dirty="0"/>
          </a:p>
        </p:txBody>
      </p:sp>
      <p:pic>
        <p:nvPicPr>
          <p:cNvPr id="6" name="Image 0" descr="/home/claude/bluestock_mf_capstone/reports/charts/11_risk_return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5212080" cy="3749040"/>
          </a:xfrm>
          <a:prstGeom prst="rect">
            <a:avLst/>
          </a:prstGeom>
        </p:spPr>
      </p:pic>
      <p:pic>
        <p:nvPicPr>
          <p:cNvPr id="7" name="Image 1" descr="/home/claude/bluestock_mf_capstone/reports/charts/08_correlation_matri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17320"/>
            <a:ext cx="4572000" cy="4023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6263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charts produced (exceeds the 15+ target) — full set in reports/charts/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PERFORMANCE ANALYTICS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Scorecard — Composite Ranking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30%×(3yr return) + 25%×(Sharpe) + 20%×(Alpha) + 15%×(low expense) + 10%×(low max-drawdown), all percentile-ranked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828800"/>
          <a:ext cx="7589520" cy="4206240"/>
        </p:xfrm>
        <a:graphic>
          <a:graphicData uri="http://schemas.openxmlformats.org/drawingml/2006/table">
            <a:tbl>
              <a:tblPr/>
              <a:tblGrid>
                <a:gridCol w="3383280"/>
                <a:gridCol w="1280160"/>
                <a:gridCol w="1005840"/>
                <a:gridCol w="1005840"/>
                <a:gridCol w="914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3Y Return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Kotak Flexicap Fund - Regular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SBI Small Cap Fund - Regular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23.39%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Pru Liquid Fund - Regular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HDFC Short Term Debt - Regular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Kotak Emerging Equity - Regular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SBI Small Cap Fund - Direct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23.87%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Mirae Asset Large Cap - Regular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732520" y="1828800"/>
            <a:ext cx="2560320" cy="4206240"/>
          </a:xfrm>
          <a:prstGeom prst="roundRect">
            <a:avLst>
              <a:gd name="adj" fmla="val 2857"/>
            </a:avLst>
          </a:prstGeom>
          <a:solidFill>
            <a:srgbClr val="0A2540"/>
          </a:solidFill>
          <a:ln/>
        </p:spPr>
      </p:sp>
      <p:sp>
        <p:nvSpPr>
          <p:cNvPr id="9" name="Text 6"/>
          <p:cNvSpPr/>
          <p:nvPr/>
        </p:nvSpPr>
        <p:spPr>
          <a:xfrm>
            <a:off x="8961120" y="20574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INSIGHT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961120" y="2423160"/>
            <a:ext cx="21031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&amp; short-duration debt funds post surprisingly high Sharpe ratios (6+) due to very low volatility — but modest absolute returns.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flexi-cap &amp; small-cap funds top the composite score by balancing strong 3yr returns with reasonable risk-adjusted metrics.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PERFORMANCE ANALYTICS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Comparison — Top 5 vs Nifty</a:t>
            </a:r>
            <a:endParaRPr lang="en-US" sz="3000" dirty="0"/>
          </a:p>
        </p:txBody>
      </p:sp>
      <p:pic>
        <p:nvPicPr>
          <p:cNvPr id="6" name="Image 0" descr="/home/claude/bluestock_mf_capstone/reports/charts/16_benchmark_comparison_top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371600"/>
            <a:ext cx="9784080" cy="4937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635508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top-scorecard funds substantially outperform Nifty 50 / Nifty 100 over the tracked period.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8686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5-Page Web Dashboard, Live in the Browser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as a self-contained HTML/JS app — no server, no license required to view — with the same design goals as a Power BI report.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" y="21488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E9F8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21305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Overview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24414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ticker, industry AUM trend, AUM by fund house, folio growth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14400" y="29260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E9F8E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00200" y="29077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Performance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00200" y="32186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Risk-return bubble scatter, sortable scorecard, NAV vs benchmark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4400" y="3703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E9F8E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36850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Analytics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00200" y="399592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by state, SIP/Lumpsum/Redemption split, demographics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4400" y="44805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E9F8E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480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00200" y="44622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&amp; Market Trends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00200" y="477316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 vs Nifty 50, category inflow heatmap, top categories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14400" y="5257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E9F8E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257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00200" y="52395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&amp; Risk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600200" y="555040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allocation, concentration (HHI) — bonus page beyond spec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PREVIEW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Visuals Powering the Dashboard</a:t>
            </a:r>
            <a:endParaRPr lang="en-US" sz="3000" dirty="0"/>
          </a:p>
        </p:txBody>
      </p:sp>
      <p:pic>
        <p:nvPicPr>
          <p:cNvPr id="6" name="Image 0" descr="/home/claude/bluestock_mf_capstone/reports/charts/09_sector_allocation_don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3657600" cy="3566160"/>
          </a:xfrm>
          <a:prstGeom prst="rect">
            <a:avLst/>
          </a:prstGeom>
        </p:spPr>
      </p:pic>
      <p:pic>
        <p:nvPicPr>
          <p:cNvPr id="7" name="Image 1" descr="/home/claude/bluestock_mf_capstone/reports/charts/18_sector_hh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371600"/>
            <a:ext cx="3566160" cy="3977640"/>
          </a:xfrm>
          <a:prstGeom prst="rect">
            <a:avLst/>
          </a:prstGeom>
        </p:spPr>
      </p:pic>
      <p:pic>
        <p:nvPicPr>
          <p:cNvPr id="8" name="Image 2" descr="/home/claude/bluestock_mf_capstone/reports/charts/06a_geo_distribution_st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371600"/>
            <a:ext cx="3200400" cy="39319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1520" y="54864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chart in the live dashboard is filterable — the underlying data updates instantly on slicer changes (Fund House, Category, State, Age Group, etc.).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463040"/>
            <a:ext cx="3291840" cy="2148840"/>
          </a:xfrm>
          <a:prstGeom prst="roundRect">
            <a:avLst>
              <a:gd name="adj" fmla="val 3404"/>
            </a:avLst>
          </a:prstGeom>
          <a:solidFill>
            <a:srgbClr val="F3F6FA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1691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E9F8E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2860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Alignment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7889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40 schemes track the real equity cycle — 2022 correction, 2023–24 rally.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34840" y="1463040"/>
            <a:ext cx="3291840" cy="2148840"/>
          </a:xfrm>
          <a:prstGeom prst="roundRect">
            <a:avLst>
              <a:gd name="adj" fmla="val 3404"/>
            </a:avLst>
          </a:prstGeom>
          <a:solidFill>
            <a:srgbClr val="F3F6FA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1691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A2540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2860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 Leadership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27889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Mutual Fund is the largest AMC by AUM throughout the sample period.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955280" y="1463040"/>
            <a:ext cx="3291840" cy="2148840"/>
          </a:xfrm>
          <a:prstGeom prst="roundRect">
            <a:avLst>
              <a:gd name="adj" fmla="val 3404"/>
            </a:avLst>
          </a:prstGeom>
          <a:solidFill>
            <a:srgbClr val="F3F6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183880" y="1691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22860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Momentum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83880" y="27889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SIP inflow trends upward, closing near the real ₹31,002 Cr all-time high.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4400" y="3840480"/>
            <a:ext cx="3291840" cy="2148840"/>
          </a:xfrm>
          <a:prstGeom prst="roundRect">
            <a:avLst>
              <a:gd name="adj" fmla="val 3404"/>
            </a:avLst>
          </a:prstGeom>
          <a:solidFill>
            <a:srgbClr val="F3F6FA"/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4069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6484A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46634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Core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51663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26–45 drive the bulk of SIP volume with the widest amount variance.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434840" y="3840480"/>
            <a:ext cx="3291840" cy="2148840"/>
          </a:xfrm>
          <a:prstGeom prst="roundRect">
            <a:avLst>
              <a:gd name="adj" fmla="val 3404"/>
            </a:avLst>
          </a:prstGeom>
          <a:solidFill>
            <a:srgbClr val="F3F6FA"/>
          </a:solidFill>
          <a:ln/>
        </p:spPr>
      </p:sp>
      <p:sp>
        <p:nvSpPr>
          <p:cNvPr id="23" name="Shape 21"/>
          <p:cNvSpPr/>
          <p:nvPr/>
        </p:nvSpPr>
        <p:spPr>
          <a:xfrm>
            <a:off x="4663440" y="4069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C564B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46634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63440" y="51663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Cross-category fund correlation is low — useful for portfolio construction.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955280" y="3840480"/>
            <a:ext cx="3291840" cy="2148840"/>
          </a:xfrm>
          <a:prstGeom prst="roundRect">
            <a:avLst>
              <a:gd name="adj" fmla="val 3404"/>
            </a:avLst>
          </a:prstGeom>
          <a:solidFill>
            <a:srgbClr val="F3F6FA"/>
          </a:solidFill>
          <a:ln/>
        </p:spPr>
      </p:sp>
      <p:sp>
        <p:nvSpPr>
          <p:cNvPr id="27" name="Shape 25"/>
          <p:cNvSpPr/>
          <p:nvPr/>
        </p:nvSpPr>
        <p:spPr>
          <a:xfrm>
            <a:off x="8183880" y="4069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B4F9E"/>
          </a:solidFill>
          <a:ln/>
        </p:spPr>
      </p:sp>
      <p:sp>
        <p:nvSpPr>
          <p:cNvPr id="28" name="Text 26"/>
          <p:cNvSpPr/>
          <p:nvPr/>
        </p:nvSpPr>
        <p:spPr>
          <a:xfrm>
            <a:off x="8183880" y="46634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Risk-Return Tradeoff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183880" y="51663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Higher-return funds cluster at higher volatility, as textbook theory predicts.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48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3000" y="566928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66928" y="3429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928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Repo: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440740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bluestock_mf_capstone/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47731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Dashboard: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506577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dashboard/bluestock_mf_dashboard.html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543153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(PDF/DOCX):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572414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reports/Bluestock_MF_Final_Report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608990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Database: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638251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data/db/bluestock_mf.db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21040" y="539496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sourced from publicly available AMFI India, NSE, BSE and open API (mfapi.in) information.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educational purposes only — not investment advice.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2026-08-09T05:27:08Z</dcterms:created>
  <dcterms:modified xsi:type="dcterms:W3CDTF">2026-08-09T05:27:08Z</dcterms:modified>
</cp:coreProperties>
</file>